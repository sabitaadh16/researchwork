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60" r:id="rId2"/>
    <p:sldId id="256" r:id="rId3"/>
    <p:sldId id="257" r:id="rId4"/>
    <p:sldId id="258" r:id="rId5"/>
    <p:sldId id="259" r:id="rId6"/>
    <p:sldId id="261" r:id="rId7"/>
    <p:sldId id="264" r:id="rId8"/>
    <p:sldId id="265" r:id="rId9"/>
    <p:sldId id="266" r:id="rId10"/>
    <p:sldId id="267" r:id="rId11"/>
    <p:sldId id="268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7E94B-A9FF-418F-9434-A4424516F2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C926D-E12E-4DA9-B059-12E4EDF6D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2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afp.org/afp/2020/0901/p298" TargetMode="External"/><Relationship Id="rId3" Type="http://schemas.openxmlformats.org/officeDocument/2006/relationships/hyperlink" Target="https://doi.org/10.1186/s12880-024-01244-1" TargetMode="External"/><Relationship Id="rId7" Type="http://schemas.openxmlformats.org/officeDocument/2006/relationships/hyperlink" Target="https://doi.org/10.3803/EnM.2024.2058" TargetMode="External"/><Relationship Id="rId2" Type="http://schemas.openxmlformats.org/officeDocument/2006/relationships/hyperlink" Target="https://doi.org/10.2967/jnumed.120.24602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48550/arXiv.1412.6980" TargetMode="External"/><Relationship Id="rId5" Type="http://schemas.openxmlformats.org/officeDocument/2006/relationships/hyperlink" Target="https://doi.org/10.1530/ETJ-23-0067" TargetMode="External"/><Relationship Id="rId4" Type="http://schemas.openxmlformats.org/officeDocument/2006/relationships/hyperlink" Target="https://doi.org/10.1136/bmj-2023-078378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86/s12885-025-13917-3" TargetMode="External"/><Relationship Id="rId3" Type="http://schemas.openxmlformats.org/officeDocument/2006/relationships/hyperlink" Target="https://doi.org/10.48550/arXiv.1801.04381" TargetMode="External"/><Relationship Id="rId7" Type="http://schemas.openxmlformats.org/officeDocument/2006/relationships/hyperlink" Target="https://doi.org/10.1148/ryai.240300" TargetMode="External"/><Relationship Id="rId2" Type="http://schemas.openxmlformats.org/officeDocument/2006/relationships/hyperlink" Target="https://doi.org/10.1038/s41598-025-25780-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38/s41598-026-51141-6" TargetMode="External"/><Relationship Id="rId5" Type="http://schemas.openxmlformats.org/officeDocument/2006/relationships/hyperlink" Target="https://doi.org/10.1530/ETJ-21-0129" TargetMode="External"/><Relationship Id="rId4" Type="http://schemas.openxmlformats.org/officeDocument/2006/relationships/hyperlink" Target="https://doi.org/10.3390/bdcc9100255" TargetMode="External"/><Relationship Id="rId9" Type="http://schemas.openxmlformats.org/officeDocument/2006/relationships/hyperlink" Target="https://doi.org/10.1038/s41597-025-05757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93C2-8A0E-4720-8ADB-2C8C51953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6713" y="685800"/>
            <a:ext cx="8915399" cy="2262781"/>
          </a:xfrm>
        </p:spPr>
        <p:txBody>
          <a:bodyPr>
            <a:normAutofit/>
          </a:bodyPr>
          <a:lstStyle/>
          <a:p>
            <a:r>
              <a:rPr lang="en-US" sz="3600" b="1" dirty="0"/>
              <a:t>A DEEP LEARNING APPROACH FOR EARLY SCREENING OF THYROID CANCER FROM ULTRASOUND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C3314-959A-4238-9A90-135910CE5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5661" y="4152900"/>
            <a:ext cx="5932487" cy="1126283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/>
              <a:t>PRESENTED BY</a:t>
            </a:r>
          </a:p>
          <a:p>
            <a:pPr algn="just"/>
            <a:r>
              <a:rPr lang="en-US" sz="2000" b="1" dirty="0"/>
              <a:t>SABITA ADHIKARI</a:t>
            </a:r>
          </a:p>
          <a:p>
            <a:pPr algn="just"/>
            <a:r>
              <a:rPr lang="en-US" sz="2000" b="1" dirty="0"/>
              <a:t>MIT-AI, Fourth Semester</a:t>
            </a:r>
          </a:p>
          <a:p>
            <a:pPr algn="just"/>
            <a:r>
              <a:rPr lang="en-US" sz="2000" b="1" dirty="0"/>
              <a:t>Registration No. 024-1-06-2-009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79DF8-9BBB-408E-805B-BA0637F6C1D3}"/>
              </a:ext>
            </a:extLst>
          </p:cNvPr>
          <p:cNvSpPr txBox="1"/>
          <p:nvPr/>
        </p:nvSpPr>
        <p:spPr>
          <a:xfrm flipH="1">
            <a:off x="7594598" y="4191000"/>
            <a:ext cx="300990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SUPERVISED</a:t>
            </a:r>
            <a:r>
              <a:rPr lang="en-US" b="1" dirty="0"/>
              <a:t> BY</a:t>
            </a:r>
          </a:p>
          <a:p>
            <a:r>
              <a:rPr lang="en-US" b="1" dirty="0" err="1"/>
              <a:t>Er</a:t>
            </a:r>
            <a:r>
              <a:rPr lang="en-US" b="1" dirty="0"/>
              <a:t>. Mahesh Shakya</a:t>
            </a:r>
          </a:p>
        </p:txBody>
      </p:sp>
    </p:spTree>
    <p:extLst>
      <p:ext uri="{BB962C8B-B14F-4D97-AF65-F5344CB8AC3E}">
        <p14:creationId xmlns:p14="http://schemas.microsoft.com/office/powerpoint/2010/main" val="3576169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77E84D-8E0A-4865-A8B9-A1CF9CD9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 AND RATIONALE OF STUDY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00413D-D688-4186-9BFE-34DA6D406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669" y="1905000"/>
            <a:ext cx="8915400" cy="3777622"/>
          </a:xfrm>
        </p:spPr>
        <p:txBody>
          <a:bodyPr/>
          <a:lstStyle/>
          <a:p>
            <a:r>
              <a:rPr lang="en-US" b="1" dirty="0"/>
              <a:t>Thyroid Nodules Are Common</a:t>
            </a:r>
          </a:p>
          <a:p>
            <a:r>
              <a:rPr lang="en-US" dirty="0"/>
              <a:t>Thyroid nodules are lumps in the thyroid gland. </a:t>
            </a:r>
          </a:p>
          <a:p>
            <a:r>
              <a:rPr lang="en-US" dirty="0"/>
              <a:t>Ultrasound detects nodules in up to 60–68% of adults. </a:t>
            </a:r>
          </a:p>
          <a:p>
            <a:r>
              <a:rPr lang="en-US" dirty="0"/>
              <a:t>About 90–95% are benign. </a:t>
            </a:r>
          </a:p>
          <a:p>
            <a:r>
              <a:rPr lang="en-US" dirty="0"/>
              <a:t>Ultrasound is the main imaging method. </a:t>
            </a:r>
          </a:p>
          <a:p>
            <a:r>
              <a:rPr lang="en-US" dirty="0"/>
              <a:t>The main task is to identify suspicious nodules.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418355-194E-4342-92B1-5F1D1803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1639978"/>
            <a:ext cx="4584699" cy="425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0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99EB-9009-47B4-A1DB-2DF36A5C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Study Is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CF4F-B6F7-4C78-B950-39BA670A5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521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The Study Focuses on Reliable Results</a:t>
            </a:r>
          </a:p>
          <a:p>
            <a:r>
              <a:rPr lang="en-US" sz="2000" dirty="0"/>
              <a:t>Ultrasound results can vary by machine, image quality, and user experience. </a:t>
            </a:r>
          </a:p>
          <a:p>
            <a:r>
              <a:rPr lang="en-US" sz="2000" dirty="0"/>
              <a:t>Images from one patient must not be placed in different data groups. </a:t>
            </a:r>
          </a:p>
          <a:p>
            <a:r>
              <a:rPr lang="en-US" sz="2000" dirty="0"/>
              <a:t>Patient-wise splitting reduces data leakage. </a:t>
            </a:r>
          </a:p>
          <a:p>
            <a:r>
              <a:rPr lang="en-US" sz="2000" dirty="0"/>
              <a:t>Accuracy alone is not enough. </a:t>
            </a:r>
          </a:p>
          <a:p>
            <a:r>
              <a:rPr lang="en-US" sz="2000" dirty="0"/>
              <a:t>The study also checks errors, calibration, and model speed.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5425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C647C-82FE-497B-B9F2-3962ED95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016DE-EE0D-4067-AE9F-249CF0393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 data: Check images, labels, and patient information. </a:t>
            </a:r>
          </a:p>
          <a:p>
            <a:r>
              <a:rPr lang="en-US" dirty="0"/>
              <a:t>Develop model: Adapt MobileNetV2 for thyroid ultrasound. </a:t>
            </a:r>
          </a:p>
          <a:p>
            <a:r>
              <a:rPr lang="en-US" dirty="0"/>
              <a:t>Evaluate model: Use several performance measures. </a:t>
            </a:r>
          </a:p>
          <a:p>
            <a:r>
              <a:rPr lang="en-US" dirty="0"/>
              <a:t>Check reliability: Study errors, speed, and model size.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51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00156-E87C-4F6C-906C-B71D829C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: Recent Lightweight CNN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7809B-639E-4CBF-90E2-A267F36BB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048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Chen et al. compared MobileNetV3 with larger CNN models. [9]</a:t>
            </a:r>
          </a:p>
          <a:p>
            <a:r>
              <a:rPr lang="en-US" dirty="0"/>
              <a:t>Their multi-scale model achieved 85.3% accuracy and 84.8% AUC for a specific thyroid-tumor task. [9]</a:t>
            </a:r>
          </a:p>
          <a:p>
            <a:r>
              <a:rPr lang="en-US" dirty="0"/>
              <a:t>Kim et al. found that multiple ultrasound views can improve classification. [10]</a:t>
            </a:r>
          </a:p>
          <a:p>
            <a:r>
              <a:rPr lang="en-US" dirty="0"/>
              <a:t>Image quality and ultrasound equipment can affect model performance. [10]</a:t>
            </a:r>
          </a:p>
          <a:p>
            <a:r>
              <a:rPr lang="en-US" dirty="0" err="1"/>
              <a:t>MobileNet</a:t>
            </a:r>
            <a:r>
              <a:rPr lang="en-US" dirty="0"/>
              <a:t> and </a:t>
            </a:r>
            <a:r>
              <a:rPr lang="en-US" dirty="0" err="1"/>
              <a:t>EfficientNet</a:t>
            </a:r>
            <a:r>
              <a:rPr lang="en-US" dirty="0"/>
              <a:t> are useful models for studying computer efficiency. [11]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6ABF4-CDB3-41A2-8749-5C3E914AD9A5}"/>
              </a:ext>
            </a:extLst>
          </p:cNvPr>
          <p:cNvSpPr txBox="1"/>
          <p:nvPr/>
        </p:nvSpPr>
        <p:spPr>
          <a:xfrm>
            <a:off x="2589212" y="5587559"/>
            <a:ext cx="8421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References : </a:t>
            </a:r>
            <a:r>
              <a:rPr lang="en-US" dirty="0" err="1"/>
              <a:t>Kingma</a:t>
            </a:r>
            <a:r>
              <a:rPr lang="en-US" dirty="0"/>
              <a:t>, D. P., &amp; Ba, J. (2014), Chen, W., Ni, X., Qian, C., et al. (2024 ),</a:t>
            </a:r>
            <a:r>
              <a:rPr lang="pl-PL" dirty="0"/>
              <a:t> Kim, J., Kim, M. H., Lim, D. J., et al. (2025 )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22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9BBD-72A6-4383-8FC6-66FCC8DD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D0152-2B7A-4844-9531-A6EBD269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Transfer learning helps when medical-image datasets are limited. [11] [12]</a:t>
            </a:r>
          </a:p>
          <a:p>
            <a:r>
              <a:rPr lang="en-US" dirty="0"/>
              <a:t>Class balancing can reduce unfair preference for one class. [12] [13]</a:t>
            </a:r>
          </a:p>
          <a:p>
            <a:r>
              <a:rPr lang="en-US" dirty="0"/>
              <a:t>Calibration checks whether predicted probabilities are trustworthy. [12]</a:t>
            </a:r>
          </a:p>
          <a:p>
            <a:r>
              <a:rPr lang="en-US" dirty="0"/>
              <a:t>TN5000 provides thyroid-ultrasound images with expert labels and biopsy information. [14]</a:t>
            </a:r>
          </a:p>
          <a:p>
            <a:r>
              <a:rPr lang="en-US" dirty="0" err="1"/>
              <a:t>GhostYOLO</a:t>
            </a:r>
            <a:r>
              <a:rPr lang="en-US" dirty="0"/>
              <a:t>  reported model size, computer cost, and external test results. [15]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50D94-D44C-4FC5-BB77-E251C1767292}"/>
              </a:ext>
            </a:extLst>
          </p:cNvPr>
          <p:cNvSpPr txBox="1"/>
          <p:nvPr/>
        </p:nvSpPr>
        <p:spPr>
          <a:xfrm>
            <a:off x="2184399" y="5174622"/>
            <a:ext cx="8911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References: Swan, K. Z., Thomas, J., Nielsen, V. E., Jespersen, M. L., &amp; Bonnema, S. J. (2022),</a:t>
            </a:r>
            <a:r>
              <a:rPr lang="nb-NO" dirty="0"/>
              <a:t> Tan, D., Cheng, C., Zheng, T., et al. (2026 ), </a:t>
            </a:r>
            <a:r>
              <a:rPr lang="fi-FI" dirty="0"/>
              <a:t>Tejani, A. S., et al. (2024 ),</a:t>
            </a:r>
            <a:r>
              <a:rPr lang="en-US" dirty="0"/>
              <a:t> Xu, Y., Xu, M., </a:t>
            </a:r>
            <a:r>
              <a:rPr lang="en-US" dirty="0" err="1"/>
              <a:t>Geng</a:t>
            </a:r>
            <a:r>
              <a:rPr lang="en-US" dirty="0"/>
              <a:t>, Z., Liu, J., &amp; Meng, B. (2025 ),</a:t>
            </a:r>
            <a:r>
              <a:rPr lang="da-DK" dirty="0"/>
              <a:t> Zhang, H., Liu, Q., Han, X., Niu, L., et al. (2025 )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9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6E09-F603-44EA-A4FB-6620709B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625" y="45282"/>
            <a:ext cx="8911687" cy="1280890"/>
          </a:xfrm>
        </p:spPr>
        <p:txBody>
          <a:bodyPr/>
          <a:lstStyle/>
          <a:p>
            <a:r>
              <a:rPr lang="en-US" dirty="0"/>
              <a:t>RESEARCH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464DD-F8B7-4BFC-8E93-28FE0E182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88" y="4995706"/>
            <a:ext cx="6970712" cy="19223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Check and clean the data. [5] [6]</a:t>
            </a:r>
          </a:p>
          <a:p>
            <a:r>
              <a:rPr lang="en-US" dirty="0"/>
              <a:t>Prepare all images in the same format and size. [7]</a:t>
            </a:r>
          </a:p>
          <a:p>
            <a:r>
              <a:rPr lang="en-US" dirty="0"/>
              <a:t>Keep each patient in only one group. [5] [6]</a:t>
            </a:r>
          </a:p>
          <a:p>
            <a:r>
              <a:rPr lang="en-US" dirty="0"/>
              <a:t>Train and improve MobileNetV2. [7]</a:t>
            </a:r>
          </a:p>
          <a:p>
            <a:r>
              <a:rPr lang="en-US" dirty="0"/>
              <a:t>Evaluate performance, errors, reliability, and speed. [5] [6]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870EA-D90C-414A-9810-621791E5E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8" y="685727"/>
            <a:ext cx="10247312" cy="43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79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2D9D-6C35-4A1F-A633-08D18C4B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DE305AD-ACFB-449A-998E-F252140F1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3400" y="1709738"/>
            <a:ext cx="5308599" cy="3814762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26DED8-618E-4663-B7EF-476C4A076BE3}"/>
              </a:ext>
            </a:extLst>
          </p:cNvPr>
          <p:cNvSpPr txBox="1"/>
          <p:nvPr/>
        </p:nvSpPr>
        <p:spPr>
          <a:xfrm flipH="1">
            <a:off x="939800" y="2578100"/>
            <a:ext cx="62103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Prepare Reliable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Check image files and patient IDs. [5] [6]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Confirm the correct label for each image. [5]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Remove invalid, duplicate, or incomplete records. [5]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Confirm the meaning of Class 0 and Class 1. [5]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Preliminary data: 8,508 raw files and 8,499 valid records. [16]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Record all exclusions and final data counts. [5] [6]</a:t>
            </a:r>
          </a:p>
        </p:txBody>
      </p:sp>
    </p:spTree>
    <p:extLst>
      <p:ext uri="{BB962C8B-B14F-4D97-AF65-F5344CB8AC3E}">
        <p14:creationId xmlns:p14="http://schemas.microsoft.com/office/powerpoint/2010/main" val="131361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10E2-1BEE-4E67-839C-85F670DE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49" y="227927"/>
            <a:ext cx="8911687" cy="888166"/>
          </a:xfrm>
        </p:spPr>
        <p:txBody>
          <a:bodyPr/>
          <a:lstStyle/>
          <a:p>
            <a:r>
              <a:rPr lang="en-US" dirty="0"/>
              <a:t>Patient-Wise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358D-0D82-472C-A282-2993AE905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1763" y="1700100"/>
            <a:ext cx="4510237" cy="4391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One Patient Stays in One Data Group</a:t>
            </a:r>
          </a:p>
          <a:p>
            <a:r>
              <a:rPr lang="en-US" dirty="0"/>
              <a:t>One patient may have several similar ultrasound images. [5] [6]</a:t>
            </a:r>
          </a:p>
          <a:p>
            <a:r>
              <a:rPr lang="en-US" dirty="0"/>
              <a:t>Mixing images from one patient can cause data leakage. [5] [6]</a:t>
            </a:r>
          </a:p>
          <a:p>
            <a:r>
              <a:rPr lang="en-US" dirty="0"/>
              <a:t>Proposed split: 70% training, 15% validation, and 15% testing. [16]</a:t>
            </a:r>
          </a:p>
          <a:p>
            <a:r>
              <a:rPr lang="en-US" dirty="0"/>
              <a:t>Training images may receive small changes called augmentation. [5] [6]</a:t>
            </a:r>
          </a:p>
          <a:p>
            <a:r>
              <a:rPr lang="en-US" dirty="0"/>
              <a:t>Validation and test images will not receive random changes. [5] [6]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2799FC-DD3C-4CB0-8C12-58855EE3C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86" y="1492100"/>
            <a:ext cx="7382577" cy="515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39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462C-3693-426F-B4CC-95FE3294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MobileNetV2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7978-CA78-46E1-9E33-D94246A6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839" y="1264555"/>
            <a:ext cx="5643596" cy="5927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      A Small and Efficient CNN Model</a:t>
            </a:r>
          </a:p>
          <a:p>
            <a:r>
              <a:rPr lang="en-US" dirty="0"/>
              <a:t>Input image size: 224 × 224 pixels with </a:t>
            </a:r>
          </a:p>
          <a:p>
            <a:pPr marL="0" indent="0">
              <a:buNone/>
            </a:pPr>
            <a:r>
              <a:rPr lang="en-US" dirty="0"/>
              <a:t>     3 </a:t>
            </a:r>
            <a:r>
              <a:rPr lang="en-US" dirty="0" err="1"/>
              <a:t>colour</a:t>
            </a:r>
            <a:r>
              <a:rPr lang="en-US" dirty="0"/>
              <a:t> channels. [7]</a:t>
            </a:r>
          </a:p>
          <a:p>
            <a:r>
              <a:rPr lang="en-US" dirty="0"/>
              <a:t>MobileNetV2 uses fewer computer resources</a:t>
            </a:r>
          </a:p>
          <a:p>
            <a:pPr marL="0" indent="0">
              <a:buNone/>
            </a:pPr>
            <a:r>
              <a:rPr lang="en-US" dirty="0"/>
              <a:t>     than many large CNN models. [7]</a:t>
            </a:r>
          </a:p>
          <a:p>
            <a:r>
              <a:rPr lang="en-US" dirty="0"/>
              <a:t>It learns useful visual patterns from ultrasound images. [7]</a:t>
            </a:r>
          </a:p>
          <a:p>
            <a:r>
              <a:rPr lang="en-US" dirty="0"/>
              <a:t>The final layer will classify the two target classes. [7]</a:t>
            </a:r>
          </a:p>
          <a:p>
            <a:r>
              <a:rPr lang="en-US" dirty="0"/>
              <a:t>The model will produce a probability for each class. [5] [7]</a:t>
            </a:r>
          </a:p>
          <a:p>
            <a:r>
              <a:rPr lang="en-US" dirty="0"/>
              <a:t>Model flow:</a:t>
            </a:r>
          </a:p>
          <a:p>
            <a:pPr marL="0" indent="0">
              <a:buNone/>
            </a:pPr>
            <a:r>
              <a:rPr lang="en-US" dirty="0"/>
              <a:t>Ultrasound image → MobileNetV2 → Learned features → Output class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957F5E-68F5-408A-A9FA-5CD95E38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435" y="1032309"/>
            <a:ext cx="5091765" cy="479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82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3A9D-1603-4B43-A225-9B7FDFF8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832AA-E4DD-4839-8F02-486BF8258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Train the Model in Two Stages</a:t>
            </a:r>
          </a:p>
          <a:p>
            <a:r>
              <a:rPr lang="en-US" dirty="0"/>
              <a:t>Stage 1: Train the new output layer. [7]</a:t>
            </a:r>
          </a:p>
          <a:p>
            <a:r>
              <a:rPr lang="en-US" dirty="0"/>
              <a:t>Stage 2: Fine-tune selected MobileNetV2 layers. [7]</a:t>
            </a:r>
          </a:p>
          <a:p>
            <a:r>
              <a:rPr lang="en-US" dirty="0"/>
              <a:t>Use class weights if one class has fewer examples. [5] [6]</a:t>
            </a:r>
          </a:p>
          <a:p>
            <a:r>
              <a:rPr lang="en-US" dirty="0"/>
              <a:t>Compare training settings using validation data. [5] [6]</a:t>
            </a:r>
          </a:p>
          <a:p>
            <a:r>
              <a:rPr lang="en-US" dirty="0"/>
              <a:t>Save the best model using validation performance. [5] [6]</a:t>
            </a:r>
          </a:p>
          <a:p>
            <a:r>
              <a:rPr lang="en-US" dirty="0"/>
              <a:t>Preliminary settings: Adam optimizer, batch size 16, learning rate 0.0001, and weighted cross-entropy. [8] [16]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76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4E451-06C2-4FF2-A2AA-B0468560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AF401-4811-4218-820C-B29DB31F8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5400"/>
            <a:ext cx="9602788" cy="5676900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Bernet</a:t>
            </a:r>
            <a:r>
              <a:rPr lang="en-US" dirty="0"/>
              <a:t>, V. J., &amp; </a:t>
            </a:r>
            <a:r>
              <a:rPr lang="en-US" dirty="0" err="1"/>
              <a:t>Chindris</a:t>
            </a:r>
            <a:r>
              <a:rPr lang="en-US" dirty="0"/>
              <a:t>, A.-M. (2021). Update on the evaluation of thyroid nodules. Journal of Nuclear Medicine, 62(Supplement 2), 13S–19S. </a:t>
            </a:r>
            <a:r>
              <a:rPr lang="en-US" dirty="0">
                <a:hlinkClick r:id="rId2"/>
              </a:rPr>
              <a:t>https://doi.org/10.2967/jnumed.120.246025</a:t>
            </a:r>
            <a:endParaRPr lang="en-US" dirty="0"/>
          </a:p>
          <a:p>
            <a:r>
              <a:rPr lang="en-US" dirty="0"/>
              <a:t>Chen, W., Ni, X., Qian, C., Yang, L., Zhang, Z., Li, M., Kong, F., Huang, M., He, M., &amp; Yin, Y. (2024 ). The value of a neural network based on multi-scale feature fusion to ultrasound images for the differentiation in thyroid follicular neoplasms. BMC Medical Imaging, 24, Article 74. </a:t>
            </a:r>
            <a:r>
              <a:rPr lang="en-US" dirty="0">
                <a:hlinkClick r:id="rId3"/>
              </a:rPr>
              <a:t>https://doi.org/10.1186/s12880-024-01244-1</a:t>
            </a:r>
            <a:endParaRPr lang="en-US" dirty="0"/>
          </a:p>
          <a:p>
            <a:r>
              <a:rPr lang="en-US" dirty="0"/>
              <a:t>Collins, G. S., Moons, K. G. M., Dhiman, P., Riley, R. D., Beam, A. L., Van </a:t>
            </a:r>
            <a:r>
              <a:rPr lang="en-US" dirty="0" err="1"/>
              <a:t>Calster</a:t>
            </a:r>
            <a:r>
              <a:rPr lang="en-US" dirty="0"/>
              <a:t>, B., </a:t>
            </a:r>
            <a:r>
              <a:rPr lang="en-US" dirty="0" err="1"/>
              <a:t>Ghassemi</a:t>
            </a:r>
            <a:r>
              <a:rPr lang="en-US" dirty="0"/>
              <a:t>, M., Liu, X., </a:t>
            </a:r>
            <a:r>
              <a:rPr lang="en-US" dirty="0" err="1"/>
              <a:t>Reitsma</a:t>
            </a:r>
            <a:r>
              <a:rPr lang="en-US" dirty="0"/>
              <a:t>, J. B., van </a:t>
            </a:r>
            <a:r>
              <a:rPr lang="en-US" dirty="0" err="1"/>
              <a:t>Smeden</a:t>
            </a:r>
            <a:r>
              <a:rPr lang="en-US" dirty="0"/>
              <a:t>, M., &amp; TRIPOD+AI Steering Group. (2024 ). TRIPOD+AI statement: Updated guidance for reporting clinical prediction models that use regression or machine learning methods. BMJ, 385, e078378. </a:t>
            </a:r>
            <a:r>
              <a:rPr lang="en-US" dirty="0">
                <a:hlinkClick r:id="rId4"/>
              </a:rPr>
              <a:t>https://doi.org/10.1136/bmj-2023-078378</a:t>
            </a:r>
            <a:endParaRPr lang="en-US" dirty="0"/>
          </a:p>
          <a:p>
            <a:r>
              <a:rPr lang="en-US" dirty="0"/>
              <a:t>Durante, C., </a:t>
            </a:r>
            <a:r>
              <a:rPr lang="en-US" dirty="0" err="1"/>
              <a:t>Hegedüs</a:t>
            </a:r>
            <a:r>
              <a:rPr lang="en-US" dirty="0"/>
              <a:t>, L., </a:t>
            </a:r>
            <a:r>
              <a:rPr lang="en-US" dirty="0" err="1"/>
              <a:t>Czarniecka</a:t>
            </a:r>
            <a:r>
              <a:rPr lang="en-US" dirty="0"/>
              <a:t>, A., </a:t>
            </a:r>
            <a:r>
              <a:rPr lang="en-US" dirty="0" err="1"/>
              <a:t>Paschke</a:t>
            </a:r>
            <a:r>
              <a:rPr lang="en-US" dirty="0"/>
              <a:t>, R., Russ, G., Schmitt, F., Soares, P., </a:t>
            </a:r>
            <a:r>
              <a:rPr lang="en-US" dirty="0" err="1"/>
              <a:t>Solymosi</a:t>
            </a:r>
            <a:r>
              <a:rPr lang="en-US" dirty="0"/>
              <a:t>, T., </a:t>
            </a:r>
            <a:r>
              <a:rPr lang="en-US" dirty="0" err="1"/>
              <a:t>Papini</a:t>
            </a:r>
            <a:r>
              <a:rPr lang="en-US" dirty="0"/>
              <a:t>, E., &amp; European Thyroid Association. (2023 ). 2023 European Thyroid Association clinical practice guidelines for thyroid nodule management. European Thyroid Journal, 12(5), e230067. </a:t>
            </a:r>
            <a:r>
              <a:rPr lang="en-US" dirty="0">
                <a:hlinkClick r:id="rId5"/>
              </a:rPr>
              <a:t>https://doi.org/10.1530/ETJ-23-0067</a:t>
            </a:r>
            <a:endParaRPr lang="en-US" dirty="0"/>
          </a:p>
          <a:p>
            <a:r>
              <a:rPr lang="en-US" dirty="0" err="1"/>
              <a:t>Kingma</a:t>
            </a:r>
            <a:r>
              <a:rPr lang="en-US" dirty="0"/>
              <a:t>, D. P., &amp; Ba, J. (2014 ). Adam: A method for stochastic optimization. </a:t>
            </a:r>
            <a:r>
              <a:rPr lang="en-US" dirty="0" err="1"/>
              <a:t>arXiv</a:t>
            </a:r>
            <a:r>
              <a:rPr lang="en-US" dirty="0"/>
              <a:t>. </a:t>
            </a:r>
            <a:r>
              <a:rPr lang="en-US" dirty="0">
                <a:hlinkClick r:id="rId6"/>
              </a:rPr>
              <a:t>https://doi.org/10.48550/arXiv.1412.6980</a:t>
            </a:r>
            <a:endParaRPr lang="en-US" dirty="0"/>
          </a:p>
          <a:p>
            <a:r>
              <a:rPr lang="en-US" dirty="0"/>
              <a:t>Kim, J., Kim, M. H., Lim, D. J., Lee, H., Lee, J. J., Kwon, H. S., et al. (2025 ). Deep learning technology for classification of thyroid nodules using multi-view ultrasound images: Potential benefits and challenges in clinical application. Endocrinology and Metabolism, 40(2), 216–224. </a:t>
            </a:r>
            <a:r>
              <a:rPr lang="en-US" dirty="0">
                <a:hlinkClick r:id="rId7"/>
              </a:rPr>
              <a:t>https://doi.org/10.3803/EnM.2024.2058</a:t>
            </a:r>
            <a:endParaRPr lang="en-US" dirty="0"/>
          </a:p>
          <a:p>
            <a:r>
              <a:rPr lang="en-US" dirty="0"/>
              <a:t>Kant, R., Davis, A., &amp; Verma, V. (2020 ). Thyroid nodules: Advances in evaluation and management. American Family Physician, 102(5), 298–304. </a:t>
            </a:r>
            <a:r>
              <a:rPr lang="en-US" dirty="0">
                <a:hlinkClick r:id="rId8"/>
              </a:rPr>
              <a:t>https://www.aafp.org/afp/2020/0901/p298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696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3BC60-F49C-48DF-B86A-6B6461CCD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6BD44-4DE0-45CF-A7DF-A520FE828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4712" y="1509490"/>
            <a:ext cx="9602788" cy="47244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Rashed</a:t>
            </a:r>
            <a:r>
              <a:rPr lang="en-US" dirty="0"/>
              <a:t>, A., Medhat, T., &amp; </a:t>
            </a:r>
            <a:r>
              <a:rPr lang="en-US" dirty="0" err="1"/>
              <a:t>Elgarayhi</a:t>
            </a:r>
            <a:r>
              <a:rPr lang="en-US" dirty="0"/>
              <a:t>, A. (2025 ). Enhancing automatic diagnosis of thyroid nodules from ultrasound scans leveraging deep learning models. Scientific Reports, 15, Article 40364. </a:t>
            </a:r>
            <a:r>
              <a:rPr lang="en-US" dirty="0">
                <a:hlinkClick r:id="rId2"/>
              </a:rPr>
              <a:t>https://doi.org/10.1038/s41598-025-25780-0</a:t>
            </a:r>
            <a:endParaRPr lang="en-US" dirty="0"/>
          </a:p>
          <a:p>
            <a:r>
              <a:rPr lang="en-US" dirty="0"/>
              <a:t>Sandler, M., Howard, A., Zhu, M., </a:t>
            </a:r>
            <a:r>
              <a:rPr lang="en-US" dirty="0" err="1"/>
              <a:t>Zhmoginov</a:t>
            </a:r>
            <a:r>
              <a:rPr lang="en-US" dirty="0"/>
              <a:t>, A., &amp; Chen, L.-C. (2018 ). MobileNetV2: Inverted residuals and linear bottlenecks. In Proceedings of the IEEE Conference on Computer Vision and Pattern Recognition (pp. 4510–4520). </a:t>
            </a:r>
            <a:r>
              <a:rPr lang="en-US" dirty="0">
                <a:hlinkClick r:id="rId3"/>
              </a:rPr>
              <a:t>https://doi.org/10.48550/arXiv.1801.04381</a:t>
            </a:r>
            <a:endParaRPr lang="en-US" dirty="0"/>
          </a:p>
          <a:p>
            <a:r>
              <a:rPr lang="en-US" dirty="0" err="1"/>
              <a:t>Savelonas</a:t>
            </a:r>
            <a:r>
              <a:rPr lang="en-US" dirty="0"/>
              <a:t>, M. (2025 ). An overview of AI-guided thyroid ultrasound image segmentation and classification for nodule assessment. Big Data and Cognitive Computing, 9(10), Article 255. </a:t>
            </a:r>
            <a:r>
              <a:rPr lang="en-US" dirty="0">
                <a:hlinkClick r:id="rId4"/>
              </a:rPr>
              <a:t>https://doi.org/10.3390/bdcc9100255</a:t>
            </a:r>
            <a:endParaRPr lang="en-US" dirty="0"/>
          </a:p>
          <a:p>
            <a:r>
              <a:rPr lang="en-US" dirty="0"/>
              <a:t>Swan, K. Z., Thomas, J., Nielsen, V. E., Jespersen, M. L., &amp; </a:t>
            </a:r>
            <a:r>
              <a:rPr lang="en-US" dirty="0" err="1"/>
              <a:t>Bonnema</a:t>
            </a:r>
            <a:r>
              <a:rPr lang="en-US" dirty="0"/>
              <a:t>, S. J. (2022 ). External validation of </a:t>
            </a:r>
            <a:r>
              <a:rPr lang="en-US" dirty="0" err="1"/>
              <a:t>AIBx</a:t>
            </a:r>
            <a:r>
              <a:rPr lang="en-US" dirty="0"/>
              <a:t>, an artificial intelligence model for risk stratification, in thyroid nodules. European Thyroid Journal, 11(2), e210129. </a:t>
            </a:r>
            <a:r>
              <a:rPr lang="en-US" dirty="0">
                <a:hlinkClick r:id="rId5"/>
              </a:rPr>
              <a:t>https://doi.org/10.1530/ETJ-21-0129</a:t>
            </a:r>
            <a:endParaRPr lang="en-US" dirty="0"/>
          </a:p>
          <a:p>
            <a:r>
              <a:rPr lang="en-US" dirty="0"/>
              <a:t>Tan, D., Cheng, C., Zheng, T., et al. (2026 ). A lightweight </a:t>
            </a:r>
            <a:r>
              <a:rPr lang="en-US" dirty="0" err="1"/>
              <a:t>GhostYOLO</a:t>
            </a:r>
            <a:r>
              <a:rPr lang="en-US" dirty="0"/>
              <a:t> framework with </a:t>
            </a:r>
            <a:r>
              <a:rPr lang="en-US" dirty="0" err="1"/>
              <a:t>GhostDynamic</a:t>
            </a:r>
            <a:r>
              <a:rPr lang="en-US" dirty="0"/>
              <a:t> Module and multi-scale attention for thyroid nodule diagnosis. Scientific Reports, 16, Article 19837. </a:t>
            </a:r>
            <a:r>
              <a:rPr lang="en-US" dirty="0">
                <a:hlinkClick r:id="rId6"/>
              </a:rPr>
              <a:t>https://doi.org/10.1038/s41598-026-51141-6</a:t>
            </a:r>
            <a:endParaRPr lang="en-US" dirty="0"/>
          </a:p>
          <a:p>
            <a:r>
              <a:rPr lang="en-US" dirty="0" err="1"/>
              <a:t>Tejani</a:t>
            </a:r>
            <a:r>
              <a:rPr lang="en-US" dirty="0"/>
              <a:t>, A. S., et al. (2024 ). Checklist for artificial intelligence in medical imaging (CLAIM): 2024 update. Radiology: Artificial Intelligence. </a:t>
            </a:r>
            <a:r>
              <a:rPr lang="en-US" dirty="0">
                <a:hlinkClick r:id="rId7"/>
              </a:rPr>
              <a:t>https://doi.org/10.1148/ryai.240300</a:t>
            </a:r>
            <a:endParaRPr lang="en-US" dirty="0"/>
          </a:p>
          <a:p>
            <a:r>
              <a:rPr lang="en-US" dirty="0"/>
              <a:t>Xu, Y., Xu, M., </a:t>
            </a:r>
            <a:r>
              <a:rPr lang="en-US" dirty="0" err="1"/>
              <a:t>Geng</a:t>
            </a:r>
            <a:r>
              <a:rPr lang="en-US" dirty="0"/>
              <a:t>, Z., Liu, J., &amp; Meng, B. (2025 ). Thyroid nodule classification in ultrasound imaging using deep transfer learning. BMC Cancer, 25, Article 544. </a:t>
            </a:r>
            <a:r>
              <a:rPr lang="en-US" dirty="0">
                <a:hlinkClick r:id="rId8"/>
              </a:rPr>
              <a:t>https://doi.org/10.1186/s12885-025-13917-3</a:t>
            </a:r>
            <a:endParaRPr lang="en-US" dirty="0"/>
          </a:p>
          <a:p>
            <a:r>
              <a:rPr lang="en-US" dirty="0"/>
              <a:t>Zhang, H., Liu, Q., Han, X., </a:t>
            </a:r>
            <a:r>
              <a:rPr lang="en-US" dirty="0" err="1"/>
              <a:t>Niu</a:t>
            </a:r>
            <a:r>
              <a:rPr lang="en-US" dirty="0"/>
              <a:t>, L., et al. (2025 ). TN5000: An ultrasound image dataset for thyroid nodule detection and classification. Scientific Data, 12, Article 1437. </a:t>
            </a:r>
            <a:r>
              <a:rPr lang="en-US" dirty="0">
                <a:hlinkClick r:id="rId9"/>
              </a:rPr>
              <a:t>https://doi.org/10.1038/s41597-025-05757-4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4782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133</TotalTime>
  <Words>1818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Wisp</vt:lpstr>
      <vt:lpstr>A DEEP LEARNING APPROACH FOR EARLY SCREENING OF THYROID CANCER FROM ULTRASOUND IMAGE</vt:lpstr>
      <vt:lpstr>BACKGROUND AND RATIONALE OF STUDY</vt:lpstr>
      <vt:lpstr>Why This Study Is Needed</vt:lpstr>
      <vt:lpstr>Research Objectives</vt:lpstr>
      <vt:lpstr>Literature Review : Recent Lightweight CNN Research</vt:lpstr>
      <vt:lpstr>LITERATURE REVIEW </vt:lpstr>
      <vt:lpstr>RESEARCH METHODOLOGY</vt:lpstr>
      <vt:lpstr>DATA PREPROCESSING</vt:lpstr>
      <vt:lpstr>Patient-Wise Splitting</vt:lpstr>
      <vt:lpstr>MobileNetV2</vt:lpstr>
      <vt:lpstr>Model Development</vt:lpstr>
      <vt:lpstr>References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BACKGROUND AND RATIONALE OF STUDY</dc:title>
  <dc:creator>LENOVO</dc:creator>
  <cp:lastModifiedBy>LENOVO</cp:lastModifiedBy>
  <cp:revision>16</cp:revision>
  <dcterms:created xsi:type="dcterms:W3CDTF">2026-09-02T07:12:53Z</dcterms:created>
  <dcterms:modified xsi:type="dcterms:W3CDTF">2026-09-02T10:19:32Z</dcterms:modified>
</cp:coreProperties>
</file>